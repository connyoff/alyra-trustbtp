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2004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4D4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LIVRABLE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61320" y="292608"/>
            <a:ext cx="14630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400" b="1" i="0">
                <a:solidFill>
                  <a:srgbClr val="333333"/>
                </a:solidFill>
                <a:latin typeface="Calibri"/>
              </a:rPr>
              <a:t>ALYRA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14300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000" b="1" i="0">
                <a:solidFill>
                  <a:srgbClr val="1E1B4B"/>
                </a:solidFill>
                <a:latin typeface="Calibri"/>
              </a:rPr>
              <a:t>Le droit &amp; notre </a:t>
            </a:r>
            <a:r>
              <a:rPr sz="3000" b="1" i="0">
                <a:solidFill>
                  <a:srgbClr val="4D43F0"/>
                </a:solidFill>
                <a:latin typeface="Calibri"/>
              </a:rPr>
              <a:t>projet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417320"/>
            <a:ext cx="56692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1E1B4B"/>
                </a:solidFill>
                <a:latin typeface="Calibri"/>
              </a:rPr>
              <a:t>Overview sur le projet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755648"/>
            <a:ext cx="5669280" cy="1417320"/>
          </a:xfrm>
          <a:prstGeom prst="rect">
            <a:avLst/>
          </a:prstGeom>
          <a:solidFill>
            <a:srgbClr val="F1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1E1B4B"/>
                </a:solidFill>
                <a:latin typeface="Calibri"/>
              </a:rPr>
              <a:t>Trust BTP</a:t>
            </a:r>
            <a:r>
              <a:rPr sz="900" b="0" i="0">
                <a:solidFill>
                  <a:srgbClr val="333344"/>
                </a:solidFill>
                <a:latin typeface="Calibri"/>
              </a:rPr>
              <a:t> = dApp hybride d’escrow pour chantiers BTP (interface </a:t>
            </a:r>
            <a:r>
              <a:rPr sz="900" b="1" i="0">
                <a:solidFill>
                  <a:srgbClr val="1E1B4B"/>
                </a:solidFill>
                <a:latin typeface="Calibri"/>
              </a:rPr>
              <a:t>Web2, Web3 invisible</a:t>
            </a:r>
            <a:r>
              <a:rPr sz="900" b="0" i="0">
                <a:solidFill>
                  <a:srgbClr val="333344"/>
                </a:solidFill>
                <a:latin typeface="Calibri"/>
              </a:rPr>
              <a:t> pour l’utilisateur). Le particulier dépose </a:t>
            </a:r>
            <a:r>
              <a:rPr sz="900" b="1" i="0">
                <a:solidFill>
                  <a:srgbClr val="333344"/>
                </a:solidFill>
                <a:latin typeface="Calibri"/>
              </a:rPr>
              <a:t>110 %</a:t>
            </a:r>
            <a:r>
              <a:rPr sz="900" b="0" i="0">
                <a:solidFill>
                  <a:srgbClr val="333344"/>
                </a:solidFill>
                <a:latin typeface="Calibri"/>
              </a:rPr>
              <a:t> via PSP agréé (100 % chantier + 5 % commission + 5 % provision litige remboursée si pas de conflit). Fonds ségrégués on-chain. </a:t>
            </a:r>
            <a:r>
              <a:rPr sz="900" b="1" i="0">
                <a:solidFill>
                  <a:srgbClr val="1E1B4B"/>
                </a:solidFill>
                <a:latin typeface="Calibri"/>
              </a:rPr>
              <a:t>Jalons validés en P2P</a:t>
            </a:r>
            <a:r>
              <a:rPr sz="900" b="0" i="0">
                <a:solidFill>
                  <a:srgbClr val="333344"/>
                </a:solidFill>
                <a:latin typeface="Calibri"/>
              </a:rPr>
              <a:t> entre particulier et artisan (preuves horodatées). L’admin n’intervient pas, sauf litige où il déclenche une médiation tierce.</a:t>
            </a:r>
          </a:p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1E1B4B"/>
                </a:solidFill>
                <a:latin typeface="Calibri"/>
              </a:rPr>
              <a:t>Opt-in DeFi</a:t>
            </a:r>
            <a:r>
              <a:rPr sz="900" b="0" i="0">
                <a:solidFill>
                  <a:srgbClr val="333344"/>
                </a:solidFill>
                <a:latin typeface="Calibri"/>
              </a:rPr>
              <a:t> (facultatif) : supply-only Aave via </a:t>
            </a:r>
            <a:r>
              <a:rPr sz="900" b="1" i="0">
                <a:solidFill>
                  <a:srgbClr val="333344"/>
                </a:solidFill>
                <a:latin typeface="Calibri"/>
              </a:rPr>
              <a:t>partenaire CASP régulé</a:t>
            </a:r>
            <a:r>
              <a:rPr sz="900" b="0" i="0">
                <a:solidFill>
                  <a:srgbClr val="333344"/>
                </a:solidFill>
                <a:latin typeface="Calibri"/>
              </a:rPr>
              <a:t>. Rendement 50/50 plateforme / particulier en </a:t>
            </a:r>
            <a:r>
              <a:rPr sz="900" b="1" i="0">
                <a:solidFill>
                  <a:srgbClr val="333344"/>
                </a:solidFill>
                <a:latin typeface="Calibri"/>
              </a:rPr>
              <a:t>crédits travaux</a:t>
            </a:r>
            <a:r>
              <a:rPr sz="900" b="0" i="0">
                <a:solidFill>
                  <a:srgbClr val="333344"/>
                </a:solidFill>
                <a:latin typeface="Calibri"/>
              </a:rPr>
              <a:t> (avantage d’usage, jamais versé en numéraire). NFT chantier = dossier de preuve on-chain.</a:t>
            </a:r>
          </a:p>
          <a:p>
            <a:pPr algn="l">
              <a:spcAft>
                <a:spcPts val="200"/>
              </a:spcAft>
            </a:pPr>
            <a:r>
              <a:rPr sz="900" b="0" i="0">
                <a:solidFill>
                  <a:srgbClr val="333344"/>
                </a:solidFill>
                <a:latin typeface="Calibri"/>
              </a:rPr>
              <a:t>Architecture </a:t>
            </a:r>
            <a:r>
              <a:rPr sz="900" b="1" i="0">
                <a:solidFill>
                  <a:srgbClr val="4D43F0"/>
                </a:solidFill>
                <a:latin typeface="Calibri"/>
              </a:rPr>
              <a:t>compliance-first</a:t>
            </a:r>
            <a:r>
              <a:rPr sz="900" b="0" i="0">
                <a:solidFill>
                  <a:srgbClr val="333344"/>
                </a:solidFill>
                <a:latin typeface="Calibri"/>
              </a:rPr>
              <a:t> : Trust BTP = orchestrateur technique, services réglementés délégués (PSP, custodian, CASP). </a:t>
            </a:r>
            <a:r>
              <a:rPr sz="900" b="0" i="1">
                <a:solidFill>
                  <a:srgbClr val="4D43F0"/>
                </a:solidFill>
                <a:latin typeface="Calibri"/>
              </a:rPr>
              <a:t>France Y1, passeport UE Y2.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417320"/>
            <a:ext cx="56692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1E1B4B"/>
                </a:solidFill>
                <a:latin typeface="Calibri"/>
              </a:rPr>
              <a:t>Points d’attention juridiques à prioriser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755648"/>
            <a:ext cx="5669280" cy="1417320"/>
          </a:xfrm>
          <a:prstGeom prst="rect">
            <a:avLst/>
          </a:prstGeom>
          <a:solidFill>
            <a:srgbClr val="F1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4D43F0"/>
                </a:solidFill>
                <a:latin typeface="Calibri"/>
              </a:rPr>
              <a:t>●  </a:t>
            </a:r>
            <a:r>
              <a:rPr sz="950" b="1">
                <a:solidFill>
                  <a:srgbClr val="1E1B4B"/>
                </a:solidFill>
                <a:latin typeface="Calibri"/>
              </a:rPr>
              <a:t>1. Statut juridique — MiCA ou non ?</a:t>
            </a:r>
            <a:r>
              <a:rPr sz="950">
                <a:solidFill>
                  <a:srgbClr val="333344"/>
                </a:solidFill>
                <a:latin typeface="Calibri"/>
              </a:rPr>
              <a:t> — Trust BTP opère des flux crypto et orchestre un opt-in DeFi. A priori 2 services CASP déclenchés (transfer + portfolio mgmt). Compliance-first : délégation totale aux partenaires agréés (PSP + custodian + CASP) → éviter l'agrément en propre Y1.</a:t>
            </a:r>
          </a:p>
          <a:p>
            <a:pPr algn="l">
              <a:spcAft>
                <a:spcPts val="400"/>
              </a:spcAft>
            </a:pPr>
            <a:r>
              <a:rPr sz="900" b="1">
                <a:solidFill>
                  <a:srgbClr val="4D43F0"/>
                </a:solidFill>
                <a:latin typeface="Calibri"/>
              </a:rPr>
              <a:t>●  </a:t>
            </a:r>
            <a:r>
              <a:rPr sz="950" b="1">
                <a:solidFill>
                  <a:srgbClr val="1E1B4B"/>
                </a:solidFill>
                <a:latin typeface="Calibri"/>
              </a:rPr>
              <a:t>2. Décentralisation, smart contract &amp; NFT chantier</a:t>
            </a:r>
            <a:r>
              <a:rPr sz="950">
                <a:solidFill>
                  <a:srgbClr val="333344"/>
                </a:solidFill>
                <a:latin typeface="Calibri"/>
              </a:rPr>
              <a:t> — validation des jalons 100 % P2P particulier/artisan — l’admin n’intervient pas, sauf déclenchement de la médiation tierce en cas de litige. Modèle décentralisé assumé, non-custodial. Qualifier le NFT chantier (utility non cessible) et les crédits travaux (avantage d’usage). Audit SC.</a:t>
            </a:r>
          </a:p>
          <a:p>
            <a:pPr algn="l">
              <a:spcAft>
                <a:spcPts val="400"/>
              </a:spcAft>
            </a:pPr>
            <a:r>
              <a:rPr sz="900" b="1">
                <a:solidFill>
                  <a:srgbClr val="4D43F0"/>
                </a:solidFill>
                <a:latin typeface="Calibri"/>
              </a:rPr>
              <a:t>●  </a:t>
            </a:r>
            <a:r>
              <a:rPr sz="950" b="1">
                <a:solidFill>
                  <a:srgbClr val="1E1B4B"/>
                </a:solidFill>
                <a:latin typeface="Calibri"/>
              </a:rPr>
              <a:t>3. Sécurité &amp; RGPD</a:t>
            </a:r>
            <a:r>
              <a:rPr sz="950">
                <a:solidFill>
                  <a:srgbClr val="333344"/>
                </a:solidFill>
                <a:latin typeface="Calibri"/>
              </a:rPr>
              <a:t> — KYC, photos chantier géolocalisées, données financières. Architecture hash on-chain / data off-chain (IPFS chiffré ou S3 UE). Valeur probatoire art. 1366-1367 CC. Audit ANSSI. DPIA RGPD. DORA si applicable.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11480" y="3291840"/>
            <a:ext cx="11365992" cy="0"/>
          </a:xfrm>
          <a:prstGeom prst="line">
            <a:avLst/>
          </a:prstGeom>
          <a:ln w="9525">
            <a:solidFill>
              <a:srgbClr val="CBCC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11480" y="3383280"/>
            <a:ext cx="114300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1E1B4B"/>
                </a:solidFill>
                <a:latin typeface="Calibri"/>
              </a:rPr>
              <a:t>Étapes à prévoir dans le calendrier juridique</a:t>
            </a:r>
          </a:p>
        </p:txBody>
      </p:sp>
      <p:sp>
        <p:nvSpPr>
          <p:cNvPr id="11" name="Oval 10"/>
          <p:cNvSpPr/>
          <p:nvPr/>
        </p:nvSpPr>
        <p:spPr>
          <a:xfrm>
            <a:off x="411480" y="3794759"/>
            <a:ext cx="502920" cy="502920"/>
          </a:xfrm>
          <a:prstGeom prst="ellipse">
            <a:avLst/>
          </a:prstGeom>
          <a:solidFill>
            <a:srgbClr val="4D4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794759"/>
            <a:ext cx="31089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4D43F0"/>
                </a:solidFill>
                <a:latin typeface="Calibri"/>
              </a:rPr>
              <a:t>Qualification du NFT chantier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4343399"/>
            <a:ext cx="370332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4D43F0"/>
                </a:solidFill>
                <a:latin typeface="Calibri"/>
              </a:rPr>
              <a:t>•  </a:t>
            </a:r>
            <a:r>
              <a:rPr sz="900">
                <a:solidFill>
                  <a:srgbClr val="333344"/>
                </a:solidFill>
                <a:latin typeface="Calibri"/>
              </a:rPr>
              <a:t>NFT chantier = dossier de preuve tokenisé : utility non cessible (attaché au contrat), sans valeur d’investissement → évite la requalification en security (art. 1321-1326 CC / MiFID II).</a:t>
            </a:r>
          </a:p>
          <a:p>
            <a:pPr algn="l">
              <a:spcAft>
                <a:spcPts val="200"/>
              </a:spcAft>
            </a:pPr>
            <a:r>
              <a:rPr sz="900" b="1">
                <a:solidFill>
                  <a:srgbClr val="4D43F0"/>
                </a:solidFill>
                <a:latin typeface="Calibri"/>
              </a:rPr>
              <a:t>•  </a:t>
            </a:r>
            <a:r>
              <a:rPr sz="900">
                <a:solidFill>
                  <a:srgbClr val="333344"/>
                </a:solidFill>
                <a:latin typeface="Calibri"/>
              </a:rPr>
              <a:t>Crédits travaux = avantage d’usage intra-écosystème, jamais en numéraire. Utility token futur (Y2+) éventuellement.</a:t>
            </a:r>
          </a:p>
        </p:txBody>
      </p:sp>
      <p:sp>
        <p:nvSpPr>
          <p:cNvPr id="14" name="Oval 13"/>
          <p:cNvSpPr/>
          <p:nvPr/>
        </p:nvSpPr>
        <p:spPr>
          <a:xfrm>
            <a:off x="4279392" y="3794759"/>
            <a:ext cx="502920" cy="502920"/>
          </a:xfrm>
          <a:prstGeom prst="ellipse">
            <a:avLst/>
          </a:prstGeom>
          <a:solidFill>
            <a:srgbClr val="4D4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73752" y="3794759"/>
            <a:ext cx="31089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4D43F0"/>
                </a:solidFill>
                <a:latin typeface="Calibri"/>
              </a:rPr>
              <a:t>Le degré de décentralisation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79392" y="4343399"/>
            <a:ext cx="370332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4D43F0"/>
                </a:solidFill>
                <a:latin typeface="Calibri"/>
              </a:rPr>
              <a:t>•  </a:t>
            </a:r>
            <a:r>
              <a:rPr sz="900">
                <a:solidFill>
                  <a:srgbClr val="333344"/>
                </a:solidFill>
                <a:latin typeface="Calibri"/>
              </a:rPr>
              <a:t>Validation des jalons 100 % P2P entre particulier et artisan (preuves on-chain). Smart contract non-custodial — Trust BTP ne détient jamais les fonds et ne valide jamais les jalons.</a:t>
            </a:r>
          </a:p>
          <a:p>
            <a:pPr algn="l">
              <a:spcAft>
                <a:spcPts val="200"/>
              </a:spcAft>
            </a:pPr>
            <a:r>
              <a:rPr sz="900" b="1">
                <a:solidFill>
                  <a:srgbClr val="4D43F0"/>
                </a:solidFill>
                <a:latin typeface="Calibri"/>
              </a:rPr>
              <a:t>•  </a:t>
            </a:r>
            <a:r>
              <a:rPr sz="900">
                <a:solidFill>
                  <a:srgbClr val="333344"/>
                </a:solidFill>
                <a:latin typeface="Calibri"/>
              </a:rPr>
              <a:t>Intervention admin limitée au litige : déclenchement médiation tierce + transmission dossier horodaté aux 2 parties. Audit SC + timelock + multi-sig scopé à la gouvernance.</a:t>
            </a:r>
          </a:p>
        </p:txBody>
      </p:sp>
      <p:sp>
        <p:nvSpPr>
          <p:cNvPr id="17" name="Oval 16"/>
          <p:cNvSpPr/>
          <p:nvPr/>
        </p:nvSpPr>
        <p:spPr>
          <a:xfrm>
            <a:off x="8147304" y="3794759"/>
            <a:ext cx="502920" cy="502920"/>
          </a:xfrm>
          <a:prstGeom prst="ellipse">
            <a:avLst/>
          </a:prstGeom>
          <a:solidFill>
            <a:srgbClr val="4D4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41664" y="3794759"/>
            <a:ext cx="31089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4D43F0"/>
                </a:solidFill>
                <a:latin typeface="Calibri"/>
              </a:rPr>
              <a:t>Autorisations / agréments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47304" y="4343399"/>
            <a:ext cx="370332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4D43F0"/>
                </a:solidFill>
                <a:latin typeface="Calibri"/>
              </a:rPr>
              <a:t>•  </a:t>
            </a:r>
            <a:r>
              <a:rPr sz="900">
                <a:solidFill>
                  <a:srgbClr val="333344"/>
                </a:solidFill>
                <a:latin typeface="Calibri"/>
              </a:rPr>
              <a:t>L’orchestration centralisée (même sans custody) déclenche a priori 2 services CASP : transfer services (j) + portfolio management (i).</a:t>
            </a:r>
          </a:p>
          <a:p>
            <a:pPr algn="l">
              <a:spcAft>
                <a:spcPts val="200"/>
              </a:spcAft>
            </a:pPr>
            <a:r>
              <a:rPr sz="900" b="1">
                <a:solidFill>
                  <a:srgbClr val="4D43F0"/>
                </a:solidFill>
                <a:latin typeface="Calibri"/>
              </a:rPr>
              <a:t>•  </a:t>
            </a:r>
            <a:r>
              <a:rPr sz="900">
                <a:solidFill>
                  <a:srgbClr val="333344"/>
                </a:solidFill>
                <a:latin typeface="Calibri"/>
              </a:rPr>
              <a:t>Y1 : délégation PSP ACPR + EMI Monerium + stratégie DeFi non-discrétionnaire → évite CASP propre. CECMC + LCB-FT + DPO. Y2 : CASP en propre pour passeport UE.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11480" y="5166360"/>
            <a:ext cx="11365992" cy="0"/>
          </a:xfrm>
          <a:prstGeom prst="line">
            <a:avLst/>
          </a:prstGeom>
          <a:ln w="9525">
            <a:solidFill>
              <a:srgbClr val="CBCC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11480" y="5257800"/>
            <a:ext cx="56692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1E1B4B"/>
                </a:solidFill>
                <a:latin typeface="Calibri"/>
              </a:rPr>
              <a:t>Partenaires clés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257800"/>
            <a:ext cx="56692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1E1B4B"/>
                </a:solidFill>
                <a:latin typeface="Calibri"/>
              </a:rPr>
              <a:t>Postes de dépenses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411480" y="5532120"/>
          <a:ext cx="5669279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3749039"/>
              </a:tblGrid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Expert</a:t>
                      </a:r>
                    </a:p>
                  </a:txBody>
                  <a:tcPr marL="73152" marR="73152" marT="36576" marB="36576" anchor="ctr">
                    <a:solidFill>
                      <a:srgbClr val="1E1B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Stratégie</a:t>
                      </a:r>
                    </a:p>
                  </a:txBody>
                  <a:tcPr marL="73152" marR="73152" marT="36576" marB="36576" anchor="ctr">
                    <a:solidFill>
                      <a:srgbClr val="4D43F0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E1B4B"/>
                          </a:solidFill>
                          <a:latin typeface="Calibri"/>
                        </a:rPr>
                        <a:t>Juriste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1E1B4B"/>
                          </a:solidFill>
                          <a:latin typeface="Calibri"/>
                        </a:rPr>
                        <a:t>(Spé. IT)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3344"/>
                          </a:solidFill>
                          <a:latin typeface="Calibri"/>
                        </a:rPr>
                        <a:t>Veille MiCA/RGPD, fiches sur droit conso BTP &amp; médiation CECMC.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E1B4B"/>
                          </a:solidFill>
                          <a:latin typeface="Calibri"/>
                        </a:rPr>
                        <a:t>Avocat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1E1B4B"/>
                          </a:solidFill>
                          <a:latin typeface="Calibri"/>
                        </a:rPr>
                        <a:t>(Droit bancaire &amp; IT)</a:t>
                      </a:r>
                    </a:p>
                  </a:txBody>
                  <a:tcPr marL="73152" marR="73152" marT="36576" marB="36576" anchor="ctr">
                    <a:solidFill>
                      <a:srgbClr val="F1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3344"/>
                          </a:solidFill>
                          <a:latin typeface="Calibri"/>
                        </a:rPr>
                        <a:t>Mémo PSFP/MiCA/CASP, négociation MSA Monerium &amp; PSP, CGU/CGV.</a:t>
                      </a:r>
                    </a:p>
                  </a:txBody>
                  <a:tcPr marL="73152" marR="73152" marT="36576" marB="36576" anchor="ctr">
                    <a:solidFill>
                      <a:srgbClr val="F1F0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E1B4B"/>
                          </a:solidFill>
                          <a:latin typeface="Calibri"/>
                        </a:rPr>
                        <a:t>Comptable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1E1B4B"/>
                          </a:solidFill>
                          <a:latin typeface="Calibri"/>
                        </a:rPr>
                        <a:t>(Spé. crypto)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3344"/>
                          </a:solidFill>
                          <a:latin typeface="Calibri"/>
                        </a:rPr>
                        <a:t>Plan comptable adapté écrits EURe, traitement fiscal escrow, FEC.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Rectangle 23"/>
          <p:cNvSpPr/>
          <p:nvPr/>
        </p:nvSpPr>
        <p:spPr>
          <a:xfrm>
            <a:off x="6400800" y="5532120"/>
            <a:ext cx="566928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333344"/>
                </a:solidFill>
                <a:latin typeface="Calibri"/>
              </a:rPr>
              <a:t>Veille(s) juridique(s)</a:t>
            </a:r>
            <a:r>
              <a:rPr sz="900">
                <a:solidFill>
                  <a:srgbClr val="CBCCE5"/>
                </a:solidFill>
                <a:latin typeface="Calibri"/>
              </a:rPr>
              <a:t>  ..............................  </a:t>
            </a:r>
            <a:r>
              <a:rPr sz="1000" b="1">
                <a:solidFill>
                  <a:srgbClr val="4D43F0"/>
                </a:solidFill>
                <a:latin typeface="Calibri"/>
              </a:rPr>
              <a:t>500 – 1 500 € HT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333344"/>
                </a:solidFill>
                <a:latin typeface="Calibri"/>
              </a:rPr>
              <a:t>Avocat(s) droit bancaire &amp; IT</a:t>
            </a:r>
            <a:r>
              <a:rPr sz="900">
                <a:solidFill>
                  <a:srgbClr val="CBCCE5"/>
                </a:solidFill>
                <a:latin typeface="Calibri"/>
              </a:rPr>
              <a:t>  ..............................  </a:t>
            </a:r>
            <a:r>
              <a:rPr sz="1000" b="1">
                <a:solidFill>
                  <a:srgbClr val="4D43F0"/>
                </a:solidFill>
                <a:latin typeface="Calibri"/>
              </a:rPr>
              <a:t>8 000 – 12 000 € HT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333344"/>
                </a:solidFill>
                <a:latin typeface="Calibri"/>
              </a:rPr>
              <a:t>Comptable spécialisé crypto</a:t>
            </a:r>
            <a:r>
              <a:rPr sz="900">
                <a:solidFill>
                  <a:srgbClr val="CBCCE5"/>
                </a:solidFill>
                <a:latin typeface="Calibri"/>
              </a:rPr>
              <a:t>  ..............................  </a:t>
            </a:r>
            <a:r>
              <a:rPr sz="1000" b="1">
                <a:solidFill>
                  <a:srgbClr val="4D43F0"/>
                </a:solidFill>
                <a:latin typeface="Calibri"/>
              </a:rPr>
              <a:t>2 500 – 4 000 € HT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333344"/>
                </a:solidFill>
                <a:latin typeface="Calibri"/>
              </a:rPr>
              <a:t>Frais administratifs (CECMC, dossier)</a:t>
            </a:r>
            <a:r>
              <a:rPr sz="900">
                <a:solidFill>
                  <a:srgbClr val="CBCCE5"/>
                </a:solidFill>
                <a:latin typeface="Calibri"/>
              </a:rPr>
              <a:t>  ..............................  </a:t>
            </a:r>
            <a:r>
              <a:rPr sz="1000" b="1">
                <a:solidFill>
                  <a:srgbClr val="4D43F0"/>
                </a:solidFill>
                <a:latin typeface="Calibri"/>
              </a:rPr>
              <a:t>1 000 – 2 500 € HT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333344"/>
                </a:solidFill>
                <a:latin typeface="Calibri"/>
              </a:rPr>
              <a:t>TOTAL Y1 — scénario délégation</a:t>
            </a:r>
            <a:r>
              <a:rPr sz="900">
                <a:solidFill>
                  <a:srgbClr val="CBCCE5"/>
                </a:solidFill>
                <a:latin typeface="Calibri"/>
              </a:rPr>
              <a:t>  ..............................  </a:t>
            </a:r>
            <a:r>
              <a:rPr sz="1000" b="1">
                <a:solidFill>
                  <a:srgbClr val="1E1B4B"/>
                </a:solidFill>
                <a:latin typeface="Calibri"/>
              </a:rPr>
              <a:t>12 000 – 20 000 € HT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6473952"/>
            <a:ext cx="5669280" cy="347472"/>
          </a:xfrm>
          <a:prstGeom prst="rect">
            <a:avLst/>
          </a:prstGeom>
          <a:solidFill>
            <a:srgbClr val="FFF4D6"/>
          </a:solidFill>
          <a:ln w="12700">
            <a:solidFill>
              <a:srgbClr val="E0A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100" b="1">
                <a:solidFill>
                  <a:srgbClr val="B87D00"/>
                </a:solidFill>
                <a:latin typeface="Calibri"/>
              </a:rPr>
              <a:t>⚠  </a:t>
            </a:r>
            <a:r>
              <a:rPr sz="950" b="1">
                <a:solidFill>
                  <a:srgbClr val="6B4800"/>
                </a:solidFill>
                <a:latin typeface="Calibri"/>
              </a:rPr>
              <a:t>Scénario CASP en propre (Y2) : </a:t>
            </a:r>
            <a:r>
              <a:rPr sz="1000" b="1">
                <a:solidFill>
                  <a:srgbClr val="B87D00"/>
                </a:solidFill>
                <a:latin typeface="Calibri"/>
              </a:rPr>
              <a:t>+50 000 – 150 000 € HT</a:t>
            </a:r>
            <a:r>
              <a:rPr sz="900" i="1">
                <a:solidFill>
                  <a:srgbClr val="6B4800"/>
                </a:solidFill>
                <a:latin typeface="Calibri"/>
              </a:rPr>
              <a:t> (capital + dossier AMF/ACPR + avocat dédié)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