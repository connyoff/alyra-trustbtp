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56032"/>
            <a:ext cx="502920" cy="594360"/>
          </a:xfrm>
          <a:prstGeom prst="roundRect">
            <a:avLst>
              <a:gd name="adj" fmla="val 12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57200"/>
            <a:ext cx="210312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39496"/>
            <a:ext cx="45720" cy="45720"/>
          </a:xfrm>
          <a:prstGeom prst="ellipse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73152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0F1F3D"/>
                </a:solidFill>
                <a:latin typeface="Calibri"/>
              </a:rPr>
              <a:t>Trust BTP</a:t>
            </a:r>
          </a:p>
          <a:p>
            <a:pPr algn="l"/>
            <a:r>
              <a:rPr sz="1400" b="0" i="0">
                <a:solidFill>
                  <a:srgbClr val="6C7489"/>
                </a:solidFill>
                <a:latin typeface="Calibri"/>
              </a:rPr>
              <a:t>Business Model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960120"/>
            <a:ext cx="2248143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06984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051560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Partenaires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99032"/>
            <a:ext cx="2019543" cy="27340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6C7489"/>
                </a:solidFill>
                <a:latin typeface="Calibri"/>
              </a:rPr>
              <a:t>Trust BTP s’appuie sur des partenaires régulés pour exécuter toutes les fonctions sensibles.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PSP agréés (ACPR) : gestion des flux fiat et cantonnement des fonds.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Monerium (EMI) : conversion en monnaie électronique on-chain (EURe).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Partenaire CASP régulé : accès à des stratégies DeFi simples et non discrétionnaires.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Médiateur indépendant (CECMC) : résolution des litiges.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Auditeurs smart contracts : sécurité et fiabilité du code.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Conseil juridique : conformité MiCA, DSP2, LCB-FT.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750" b="1" i="1">
                <a:solidFill>
                  <a:srgbClr val="1E1B4B"/>
                </a:solidFill>
                <a:latin typeface="Calibri"/>
              </a:rPr>
              <a:t>Toutes les fonctions réglementées sont externalisées.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3903" y="960120"/>
            <a:ext cx="2248143" cy="15681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23631" y="106984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103" y="1051560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Activités clés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1063" y="1399032"/>
            <a:ext cx="2019543" cy="10561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0" i="1">
                <a:solidFill>
                  <a:srgbClr val="6C7489"/>
                </a:solidFill>
                <a:latin typeface="Calibri"/>
              </a:rPr>
              <a:t>Trust BTP agit comme une couche d’orchestration technique.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Dev &amp; maintenance des smart contracts d’escrow.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Architecture non-custodiale.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Orchestration entre utilisateurs et partenaires.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Parcours utilisateur : devis → paiement → validation.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Déclenchement de la médiation en cas de litige.</a:t>
            </a:r>
          </a:p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700" b="1" i="1">
                <a:solidFill>
                  <a:srgbClr val="1E1B4B"/>
                </a:solidFill>
                <a:latin typeface="Calibri"/>
              </a:rPr>
              <a:t>La plateforme n’exécute ni paiement ni décision financière.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3903" y="2638044"/>
            <a:ext cx="2248143" cy="15681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23631" y="2747772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1103" y="2729484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Ressources clés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1063" y="3076956"/>
            <a:ext cx="2019543" cy="10561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0" i="1">
                <a:solidFill>
                  <a:srgbClr val="6C7489"/>
                </a:solidFill>
                <a:latin typeface="Calibri"/>
              </a:rPr>
              <a:t>Actifs technologiques et contractuels combinés.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Smart contracts audités (logique d’exécution).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Application web/mobile (UX simple, Web3 invisible).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NFT chantier : registre de preuve horodaté.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Accords contractuels avec partenaires régulés.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Expertise produit, DeFi et conformité.</a:t>
            </a:r>
          </a:p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700" b="1" i="1">
                <a:solidFill>
                  <a:srgbClr val="1E1B4B"/>
                </a:solidFill>
                <a:latin typeface="Calibri"/>
              </a:rPr>
              <a:t>La confiance est codée et documentée.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1775" y="960120"/>
            <a:ext cx="2248143" cy="324612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81503" y="1069848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0F1F3D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8975" y="1051560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Proposition de valeur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8935" y="1399032"/>
            <a:ext cx="2019543" cy="27340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CFD3E4"/>
                </a:solidFill>
                <a:latin typeface="Calibri"/>
              </a:rPr>
              <a:t>Trust BTP sécurise et structure le paiement dans le secteur des travaux.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◆  </a:t>
            </a:r>
            <a:r>
              <a:rPr sz="850" b="0" i="0">
                <a:solidFill>
                  <a:srgbClr val="FFFFFF"/>
                </a:solidFill>
                <a:latin typeface="Calibri"/>
              </a:rPr>
              <a:t>Paiement via escrow programmable par jalons.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◆  </a:t>
            </a:r>
            <a:r>
              <a:rPr sz="850" b="0" i="0">
                <a:solidFill>
                  <a:srgbClr val="FFFFFF"/>
                </a:solidFill>
                <a:latin typeface="Calibri"/>
              </a:rPr>
              <a:t>Validation des étapes en pair-à-pair entre particulier et artisan.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◆  </a:t>
            </a:r>
            <a:r>
              <a:rPr sz="850" b="0" i="0">
                <a:solidFill>
                  <a:srgbClr val="FFFFFF"/>
                </a:solidFill>
                <a:latin typeface="Calibri"/>
              </a:rPr>
              <a:t>Génération d’un dossier de preuve horodaté et infalsifiable.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◆  </a:t>
            </a:r>
            <a:r>
              <a:rPr sz="850" b="0" i="0">
                <a:solidFill>
                  <a:srgbClr val="FFFFFF"/>
                </a:solidFill>
                <a:latin typeface="Calibri"/>
              </a:rPr>
              <a:t>Accès à une médiation indépendante en cas de litige.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◆  </a:t>
            </a:r>
            <a:r>
              <a:rPr sz="850" b="0" i="0">
                <a:solidFill>
                  <a:srgbClr val="FFFFFF"/>
                </a:solidFill>
                <a:latin typeface="Calibri"/>
              </a:rPr>
              <a:t>Optimisation facultative des fonds temporairement immobilisés.</a:t>
            </a:r>
          </a:p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→  </a:t>
            </a:r>
            <a:r>
              <a:rPr sz="850" b="1" i="1">
                <a:solidFill>
                  <a:srgbClr val="FFFFFF"/>
                </a:solidFill>
                <a:latin typeface="Calibri"/>
              </a:rPr>
              <a:t>Un paiement devient un mécanisme de confiance complet.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9647" y="960120"/>
            <a:ext cx="2248143" cy="15681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9375" y="106984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6847" y="1051560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Relation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6807" y="1399032"/>
            <a:ext cx="2019543" cy="10561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0" i="1">
                <a:solidFill>
                  <a:srgbClr val="6C7489"/>
                </a:solidFill>
                <a:latin typeface="Calibri"/>
              </a:rPr>
              <a:t>Une expérience simple, transparente et sécurisante.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Interface intuitive, sans complexité Web3.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Parcours guidé à chaque étape du chantier.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Accès clair aux preuves et validations.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Support utilisateur accessible.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Médiation activable en cas de désaccord.</a:t>
            </a:r>
          </a:p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700" b="1" i="1">
                <a:solidFill>
                  <a:srgbClr val="1E1B4B"/>
                </a:solidFill>
                <a:latin typeface="Calibri"/>
              </a:rPr>
              <a:t>L’utilisateur garde le contrôle, sans friction.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9647" y="2638044"/>
            <a:ext cx="2248143" cy="15681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39375" y="2747772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6847" y="2729484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E1B4B"/>
                </a:solidFill>
                <a:latin typeface="Calibri"/>
              </a:rPr>
              <a:t>Canaux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6807" y="3076956"/>
            <a:ext cx="2019543" cy="10561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0" i="1">
                <a:solidFill>
                  <a:srgbClr val="6C7489"/>
                </a:solidFill>
                <a:latin typeface="Calibri"/>
              </a:rPr>
              <a:t>Distribution intégrée aux usages existants du secteur.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Application web et mobile.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Intégration dans les devis artisans (B2B2C).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SEO et contenu éducatif (paiements sécurisés).</a:t>
            </a:r>
          </a:p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00" b="0" i="0">
                <a:solidFill>
                  <a:srgbClr val="2E3549"/>
                </a:solidFill>
                <a:latin typeface="Calibri"/>
              </a:rPr>
              <a:t>Partenariats : bâtiment et immobilier.</a:t>
            </a:r>
          </a:p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700" b="1" i="1">
                <a:solidFill>
                  <a:srgbClr val="1E1B4B"/>
                </a:solidFill>
                <a:latin typeface="Calibri"/>
              </a:rPr>
              <a:t>Le produit s’insère au moment clé : le paiement.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7519" y="960120"/>
            <a:ext cx="2248143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97247" y="106984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4719" y="1051560"/>
            <a:ext cx="169950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Segments de clientèle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4679" y="1399032"/>
            <a:ext cx="2019543" cy="27340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6C7489"/>
                </a:solidFill>
                <a:latin typeface="Calibri"/>
              </a:rPr>
              <a:t>Un marché large avec un besoin universel.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Particuliers réalisant des travaux (1 k€ à 100 k€).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Artisans et TPE souhaitant sécuriser leurs encaissements.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Extensions possibles : syndics de copropriété.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Promoteurs immobiliers (phase 3).</a:t>
            </a:r>
          </a:p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750" b="0" i="0">
                <a:solidFill>
                  <a:srgbClr val="2E3549"/>
                </a:solidFill>
                <a:latin typeface="Calibri"/>
              </a:rPr>
              <a:t>Acteurs immobiliers et courtiers travaux.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750" b="1" i="1">
                <a:solidFill>
                  <a:srgbClr val="1E1B4B"/>
                </a:solidFill>
                <a:latin typeface="Calibri"/>
              </a:rPr>
              <a:t>Un problème massif, transversal au secteur.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" y="4297680"/>
            <a:ext cx="2837611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5760" y="440740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389120"/>
            <a:ext cx="2288971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Structure de revenus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4736592"/>
            <a:ext cx="2609011" cy="14081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6C7489"/>
                </a:solidFill>
                <a:latin typeface="Calibri"/>
              </a:rPr>
              <a:t>Un modèle simple, transparent et scalable.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Commission sur les transactions (∼ 5 %).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Provision médiation (∼ 5 %, remboursable si non utilisée).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Partage de rendement sur fonds optimisés (DeFi).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Futurs avantages d’usage (crédits travaux).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800" b="1" i="1">
                <a:solidFill>
                  <a:srgbClr val="1E1B4B"/>
                </a:solidFill>
                <a:latin typeface="Calibri"/>
              </a:rPr>
              <a:t>Monétisation alignée avec la création de valeur.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3371" y="4297680"/>
            <a:ext cx="2837611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13099" y="440740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0571" y="4389120"/>
            <a:ext cx="2288971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Tokenomics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0531" y="4736592"/>
            <a:ext cx="2609011" cy="14081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6C7489"/>
                </a:solidFill>
                <a:latin typeface="Calibri"/>
              </a:rPr>
              <a:t>Une logique progressive, sans exposition inutile.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Aucun token natif au lancement.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NFT chantier : usage fonctionnel uniquement (preuve).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Gains redistribués en crédits travaux (non financiers).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Utility token futur possible, selon cadre réglementaire.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800" b="1" i="1">
                <a:solidFill>
                  <a:srgbClr val="1E1B4B"/>
                </a:solidFill>
                <a:latin typeface="Calibri"/>
              </a:rPr>
              <a:t>Priorité au produit, pas à la spéculation.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0711" y="4297680"/>
            <a:ext cx="2837611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0439" y="440740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7911" y="4389120"/>
            <a:ext cx="2288971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Gouvernance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7871" y="4736592"/>
            <a:ext cx="2609011" cy="14081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6C7489"/>
                </a:solidFill>
                <a:latin typeface="Calibri"/>
              </a:rPr>
              <a:t>Un cadre maîtrisé, sans impact sur les flux.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Trust BTP n’a aucun contrôle sur les fonds ni validations.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Les jalons sont validés uniquement par les parties.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Smart contracts sécurisés (audit, timelock, multi-sig limité).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Rôle limité à l’orchestration technique.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800" b="1" i="1">
                <a:solidFill>
                  <a:srgbClr val="1E1B4B"/>
                </a:solidFill>
                <a:latin typeface="Calibri"/>
              </a:rPr>
              <a:t>Pas de pouvoir sur l’exécution = moins de risque réglementaire.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051" y="4297680"/>
            <a:ext cx="2837611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07779" y="4407408"/>
            <a:ext cx="292608" cy="292608"/>
          </a:xfrm>
          <a:prstGeom prst="ellipse">
            <a:avLst/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251" y="4389120"/>
            <a:ext cx="2288971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E1B4B"/>
                </a:solidFill>
                <a:latin typeface="Calibri"/>
              </a:rPr>
              <a:t>Infrastructure technique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211" y="4736592"/>
            <a:ext cx="2609011" cy="140817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6C7489"/>
                </a:solidFill>
                <a:latin typeface="Calibri"/>
              </a:rPr>
              <a:t>Une architecture hybride, performante et conforme.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Smart contracts sur Arbitrum (Layer 2).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Intégration Monerium (EURe + SEPA).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Protocoles DeFi sécurisés via partenaires régulés.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Données hybrides : on-chain (preuve) + off-chain (RGPD).</a:t>
            </a:r>
          </a:p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D43F0"/>
                </a:solidFill>
                <a:latin typeface="Calibri"/>
              </a:rPr>
              <a:t>◆  </a:t>
            </a:r>
            <a:r>
              <a:rPr sz="800" b="0" i="0">
                <a:solidFill>
                  <a:srgbClr val="2E3549"/>
                </a:solidFill>
                <a:latin typeface="Calibri"/>
              </a:rPr>
              <a:t>Front Web2 + backend robuste.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4D43F0"/>
                </a:solidFill>
                <a:latin typeface="Calibri"/>
              </a:rPr>
              <a:t>→  </a:t>
            </a:r>
            <a:r>
              <a:rPr sz="800" b="1" i="1">
                <a:solidFill>
                  <a:srgbClr val="1E1B4B"/>
                </a:solidFill>
                <a:latin typeface="Calibri"/>
              </a:rPr>
              <a:t>Technologie complexe, usage simple.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6032" y="6291072"/>
            <a:ext cx="11679631" cy="502920"/>
          </a:xfrm>
          <a:prstGeom prst="roundRect">
            <a:avLst>
              <a:gd name="adj" fmla="val 12000"/>
            </a:avLst>
          </a:prstGeom>
          <a:solidFill>
            <a:srgbClr val="4D4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★  POSITIONNEMENT FINAL  ·  </a:t>
            </a:r>
            <a:r>
              <a:rPr sz="1050" b="0" i="1">
                <a:solidFill>
                  <a:srgbClr val="FFFFFF"/>
                </a:solidFill>
                <a:latin typeface="Calibri"/>
              </a:rPr>
              <a:t>Trust BTP est une infrastructure d’orchestration non-custodiale qui permet des paiements travaux sécurisés, validés en pair-à-pair et documentés on-chain, tout en déléguant les fonctions réglementées à des partenaires agréés.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803136"/>
            <a:ext cx="116586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1">
                <a:solidFill>
                  <a:srgbClr val="6C7489"/>
                </a:solidFill>
                <a:latin typeface="Calibri"/>
              </a:rPr>
              <a:t>Trust BTP · Cas pratique Alyra · Avr.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