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6858000" cy="1219169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5394960" y="-137160"/>
            <a:ext cx="1554480" cy="640080"/>
          </a:xfrm>
          <a:prstGeom prst="rtTriangle">
            <a:avLst/>
          </a:prstGeom>
          <a:solidFill>
            <a:srgbClr val="C3E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Triangle 3"/>
          <p:cNvSpPr/>
          <p:nvPr/>
        </p:nvSpPr>
        <p:spPr>
          <a:xfrm rot="10800000">
            <a:off x="-91440" y="11750040"/>
            <a:ext cx="1188720" cy="548640"/>
          </a:xfrm>
          <a:prstGeom prst="rtTriangle">
            <a:avLst/>
          </a:prstGeom>
          <a:solidFill>
            <a:srgbClr val="C3E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228600"/>
            <a:ext cx="6309360" cy="457200"/>
          </a:xfrm>
          <a:prstGeom prst="rect">
            <a:avLst/>
          </a:prstGeom>
          <a:noFill/>
        </p:spPr>
        <p:txBody>
          <a:bodyPr wrap="square" lIns="45720" rIns="45720" tIns="27432" bIns="27432" anchor="t">
            <a:spAutoFit/>
          </a:bodyPr>
          <a:lstStyle/>
          <a:p>
            <a:pPr algn="ctr"/>
            <a:r>
              <a:rPr sz="2200" b="1" i="0">
                <a:solidFill>
                  <a:srgbClr val="1F4E73"/>
                </a:solidFill>
                <a:latin typeface="Calibri"/>
              </a:rPr>
              <a:t>User Stories — Trust BTP</a:t>
            </a:r>
          </a:p>
        </p:txBody>
      </p:sp>
      <p:sp>
        <p:nvSpPr>
          <p:cNvPr id="6" name="Rounded Rectangle 5"/>
          <p:cNvSpPr/>
          <p:nvPr/>
        </p:nvSpPr>
        <p:spPr>
          <a:xfrm>
            <a:off x="274320" y="658368"/>
            <a:ext cx="6309360" cy="3383280"/>
          </a:xfrm>
          <a:prstGeom prst="roundRect">
            <a:avLst>
              <a:gd name="adj" fmla="val 2500"/>
            </a:avLst>
          </a:prstGeom>
          <a:solidFill>
            <a:srgbClr val="FFFFFF"/>
          </a:solidFill>
          <a:ln w="15240">
            <a:solidFill>
              <a:srgbClr val="9DC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38912" y="749808"/>
            <a:ext cx="329184" cy="329184"/>
          </a:xfrm>
          <a:prstGeom prst="ellipse">
            <a:avLst/>
          </a:prstGeom>
          <a:solidFill>
            <a:srgbClr val="4D43F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r>
              <a:rPr sz="1500" b="1" i="0">
                <a:solidFill>
                  <a:srgbClr val="FFFFFF"/>
                </a:solidFill>
                <a:latin typeface="Calibri"/>
              </a:rPr>
              <a:t>A</a:t>
            </a:r>
          </a:p>
        </p:txBody>
      </p:sp>
      <p:sp>
        <p:nvSpPr>
          <p:cNvPr id="8" name="TextBox 7"/>
          <p:cNvSpPr txBox="1"/>
          <p:nvPr/>
        </p:nvSpPr>
        <p:spPr>
          <a:xfrm>
            <a:off x="841248" y="758952"/>
            <a:ext cx="5577840" cy="292608"/>
          </a:xfrm>
          <a:prstGeom prst="rect">
            <a:avLst/>
          </a:prstGeom>
          <a:noFill/>
        </p:spPr>
        <p:txBody>
          <a:bodyPr wrap="square" lIns="0" rIns="0" tIns="0" bIns="0" anchor="t">
            <a:spAutoFit/>
          </a:bodyPr>
          <a:lstStyle/>
          <a:p>
            <a:pPr algn="l"/>
            <a:r>
              <a:rPr sz="1250" b="1" i="0">
                <a:solidFill>
                  <a:srgbClr val="1E1B4B"/>
                </a:solidFill>
                <a:latin typeface="Calibri"/>
              </a:rPr>
              <a:t>Persona Artisan</a:t>
            </a:r>
            <a:r>
              <a:rPr sz="1150" b="1" i="0">
                <a:solidFill>
                  <a:srgbClr val="337DA8"/>
                </a:solidFill>
                <a:latin typeface="Calibri"/>
              </a:rPr>
              <a:t>   —   Sécuriser son paiement</a:t>
            </a:r>
          </a:p>
        </p:txBody>
      </p:sp>
      <p:sp>
        <p:nvSpPr>
          <p:cNvPr id="9" name="Rounded Rectangle 8"/>
          <p:cNvSpPr/>
          <p:nvPr/>
        </p:nvSpPr>
        <p:spPr>
          <a:xfrm>
            <a:off x="438912" y="1097280"/>
            <a:ext cx="5980176" cy="237744"/>
          </a:xfrm>
          <a:prstGeom prst="roundRect">
            <a:avLst>
              <a:gd name="adj" fmla="val 30000"/>
            </a:avLst>
          </a:prstGeom>
          <a:solidFill>
            <a:srgbClr val="F1F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l"/>
            <a:r>
              <a:rPr sz="850" b="1" i="0">
                <a:solidFill>
                  <a:srgbClr val="1E1B4B"/>
                </a:solidFill>
                <a:latin typeface="Calibri"/>
              </a:rPr>
              <a:t>Objectif : </a:t>
            </a:r>
            <a:r>
              <a:rPr sz="850" b="0" i="1">
                <a:solidFill>
                  <a:srgbClr val="2E3549"/>
                </a:solidFill>
                <a:latin typeface="Calibri"/>
              </a:rPr>
              <a:t>Être payé de manière fiable et rapide, sans dépendre de la confiance client.</a:t>
            </a:r>
          </a:p>
        </p:txBody>
      </p:sp>
      <p:sp>
        <p:nvSpPr>
          <p:cNvPr id="10" name="TextBox 9"/>
          <p:cNvSpPr txBox="1"/>
          <p:nvPr/>
        </p:nvSpPr>
        <p:spPr>
          <a:xfrm>
            <a:off x="438912" y="1389888"/>
            <a:ext cx="5980176" cy="2578608"/>
          </a:xfrm>
          <a:prstGeom prst="rect">
            <a:avLst/>
          </a:prstGeom>
          <a:noFill/>
        </p:spPr>
        <p:txBody>
          <a:bodyPr wrap="square" lIns="0" rIns="0" tIns="0" bIns="0" anchor="t">
            <a:spAutoFit/>
          </a:bodyPr>
          <a:lstStyle/>
          <a:p>
            <a:pPr algn="l">
              <a:lnSpc>
                <a:spcPct val="108000"/>
              </a:lnSpc>
              <a:spcAft>
                <a:spcPts val="400"/>
              </a:spcAft>
            </a:pPr>
            <a:r>
              <a:rPr sz="850" b="1" i="0">
                <a:solidFill>
                  <a:srgbClr val="4D43F0"/>
                </a:solidFill>
                <a:latin typeface="Calibri"/>
              </a:rPr>
              <a:t>▸ User Story : </a:t>
            </a:r>
            <a:r>
              <a:rPr sz="850" b="0" i="0">
                <a:solidFill>
                  <a:srgbClr val="2E3549"/>
                </a:solidFill>
                <a:latin typeface="Calibri"/>
              </a:rPr>
              <a:t>En tant qu’artisan, je veux sécuriser mon paiement avant de démarrer un chantier et prouver l’avancement de mon travail afin d’être payé automatiquement à chaque étape validée.</a:t>
            </a:r>
          </a:p>
          <a:p>
            <a:pPr algn="l">
              <a:spcAft>
                <a:spcPts val="0"/>
              </a:spcAft>
            </a:pPr>
            <a:r>
              <a:rPr sz="900" b="1" i="0">
                <a:solidFill>
                  <a:srgbClr val="F07B1C"/>
                </a:solidFill>
                <a:latin typeface="Calibri"/>
              </a:rPr>
              <a:t>1</a:t>
            </a:r>
            <a:r>
              <a:rPr sz="850" b="1" i="0">
                <a:solidFill>
                  <a:srgbClr val="1F4E73"/>
                </a:solidFill>
                <a:latin typeface="Calibri"/>
              </a:rPr>
              <a:t>  Scénario Démarrage du chantier</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Un devis est signé entre le particulier et moi.</a:t>
            </a:r>
          </a:p>
          <a:p>
            <a:pPr algn="l">
              <a:lnSpc>
                <a:spcPct val="105000"/>
              </a:lnSpc>
              <a:spcAft>
                <a:spcPts val="0"/>
              </a:spcAft>
            </a:pPr>
            <a:r>
              <a:rPr sz="750" b="1" i="0">
                <a:solidFill>
                  <a:srgbClr val="1F7A3E"/>
                </a:solidFill>
                <a:latin typeface="Calibri"/>
              </a:rPr>
              <a:t>AND : </a:t>
            </a:r>
            <a:r>
              <a:rPr sz="750" b="0" i="0">
                <a:solidFill>
                  <a:srgbClr val="101422"/>
                </a:solidFill>
                <a:latin typeface="Calibri"/>
              </a:rPr>
              <a:t>Le particulier a déposé les fonds via un partenaire de paiement.</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Le smart contract confirme la mise sous séquestre des fonds.</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Je reçois une confirmation que le chantier peut démarrer en toute sécurité.</a:t>
            </a:r>
          </a:p>
          <a:p>
            <a:pPr algn="l">
              <a:spcAft>
                <a:spcPts val="0"/>
              </a:spcAft>
            </a:pPr>
            <a:r>
              <a:rPr sz="200" b="0" i="0">
                <a:solidFill>
                  <a:srgbClr val="101422"/>
                </a:solidFill>
                <a:latin typeface="Calibri"/>
              </a:rPr>
              <a:t> </a:t>
            </a:r>
          </a:p>
          <a:p>
            <a:pPr algn="l">
              <a:spcAft>
                <a:spcPts val="0"/>
              </a:spcAft>
            </a:pPr>
            <a:r>
              <a:rPr sz="900" b="1" i="0">
                <a:solidFill>
                  <a:srgbClr val="F07B1C"/>
                </a:solidFill>
                <a:latin typeface="Calibri"/>
              </a:rPr>
              <a:t>2</a:t>
            </a:r>
            <a:r>
              <a:rPr sz="850" b="1" i="0">
                <a:solidFill>
                  <a:srgbClr val="1F4E73"/>
                </a:solidFill>
                <a:latin typeface="Calibri"/>
              </a:rPr>
              <a:t>  Scénario Dépôt de preuve</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J’ai terminé une étape du chantier.</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Je dépose des preuves (photos, documents, éléments horodatés).</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Les preuves sont enregistrées et associées au NFT chantier.</a:t>
            </a:r>
          </a:p>
          <a:p>
            <a:pPr algn="l">
              <a:spcAft>
                <a:spcPts val="0"/>
              </a:spcAft>
            </a:pPr>
            <a:r>
              <a:rPr sz="200" b="0" i="0">
                <a:solidFill>
                  <a:srgbClr val="101422"/>
                </a:solidFill>
                <a:latin typeface="Calibri"/>
              </a:rPr>
              <a:t> </a:t>
            </a:r>
          </a:p>
          <a:p>
            <a:pPr algn="l">
              <a:spcAft>
                <a:spcPts val="0"/>
              </a:spcAft>
            </a:pPr>
            <a:r>
              <a:rPr sz="900" b="1" i="0">
                <a:solidFill>
                  <a:srgbClr val="F07B1C"/>
                </a:solidFill>
                <a:latin typeface="Calibri"/>
              </a:rPr>
              <a:t>3</a:t>
            </a:r>
            <a:r>
              <a:rPr sz="850" b="1" i="0">
                <a:solidFill>
                  <a:srgbClr val="1F4E73"/>
                </a:solidFill>
                <a:latin typeface="Calibri"/>
              </a:rPr>
              <a:t>  Scénario Paiement automatique</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Les preuves sont validées par le particulier.</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Le jalon est validé en pair-à-pair.</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Le smart contract déclenche automatiquement le paiement de la tranche.</a:t>
            </a:r>
          </a:p>
          <a:p>
            <a:pPr algn="l">
              <a:spcAft>
                <a:spcPts val="0"/>
              </a:spcAft>
            </a:pPr>
            <a:r>
              <a:rPr sz="200" b="0" i="0">
                <a:solidFill>
                  <a:srgbClr val="101422"/>
                </a:solidFill>
                <a:latin typeface="Calibri"/>
              </a:rPr>
              <a:t> </a:t>
            </a:r>
          </a:p>
          <a:p>
            <a:pPr algn="l">
              <a:spcAft>
                <a:spcPts val="0"/>
              </a:spcAft>
            </a:pPr>
            <a:r>
              <a:rPr sz="900" b="1" i="0">
                <a:solidFill>
                  <a:srgbClr val="F07B1C"/>
                </a:solidFill>
                <a:latin typeface="Calibri"/>
              </a:rPr>
              <a:t>4</a:t>
            </a:r>
            <a:r>
              <a:rPr sz="850" b="1" i="0">
                <a:solidFill>
                  <a:srgbClr val="1F4E73"/>
                </a:solidFill>
                <a:latin typeface="Calibri"/>
              </a:rPr>
              <a:t>  Scénario Contestation</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Le particulier conteste les preuves déposées.</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Une contestation est déclenchée.</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Les fonds restent bloqués et une médiation tierce est initiée.</a:t>
            </a:r>
          </a:p>
          <a:p>
            <a:pPr algn="l">
              <a:spcAft>
                <a:spcPts val="0"/>
              </a:spcAft>
            </a:pPr>
            <a:r>
              <a:rPr sz="200" b="0" i="0">
                <a:solidFill>
                  <a:srgbClr val="101422"/>
                </a:solidFill>
                <a:latin typeface="Calibri"/>
              </a:rPr>
              <a:t> </a:t>
            </a:r>
          </a:p>
          <a:p>
            <a:pPr algn="l">
              <a:lnSpc>
                <a:spcPct val="108000"/>
              </a:lnSpc>
              <a:spcAft>
                <a:spcPts val="0"/>
              </a:spcAft>
            </a:pPr>
            <a:r>
              <a:rPr sz="850" b="1" i="0">
                <a:solidFill>
                  <a:srgbClr val="F07B1C"/>
                </a:solidFill>
                <a:latin typeface="Calibri"/>
              </a:rPr>
              <a:t>★  Insight produit : </a:t>
            </a:r>
            <a:r>
              <a:rPr sz="850" b="1" i="1">
                <a:solidFill>
                  <a:srgbClr val="1E1B4B"/>
                </a:solidFill>
                <a:latin typeface="Calibri"/>
              </a:rPr>
              <a:t>L’artisan ne dépend plus de la confiance → il dépend du système.</a:t>
            </a:r>
          </a:p>
        </p:txBody>
      </p:sp>
      <p:sp>
        <p:nvSpPr>
          <p:cNvPr id="11" name="Rounded Rectangle 10"/>
          <p:cNvSpPr/>
          <p:nvPr/>
        </p:nvSpPr>
        <p:spPr>
          <a:xfrm>
            <a:off x="274320" y="4133087"/>
            <a:ext cx="6309360" cy="3913632"/>
          </a:xfrm>
          <a:prstGeom prst="roundRect">
            <a:avLst>
              <a:gd name="adj" fmla="val 2500"/>
            </a:avLst>
          </a:prstGeom>
          <a:solidFill>
            <a:srgbClr val="FFFFFF"/>
          </a:solidFill>
          <a:ln w="15240">
            <a:solidFill>
              <a:srgbClr val="9DC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8912" y="4224527"/>
            <a:ext cx="329184" cy="329184"/>
          </a:xfrm>
          <a:prstGeom prst="ellipse">
            <a:avLst/>
          </a:prstGeom>
          <a:solidFill>
            <a:srgbClr val="4D43F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r>
              <a:rPr sz="1500" b="1" i="0">
                <a:solidFill>
                  <a:srgbClr val="FFFFFF"/>
                </a:solidFill>
                <a:latin typeface="Calibri"/>
              </a:rPr>
              <a:t>P</a:t>
            </a:r>
          </a:p>
        </p:txBody>
      </p:sp>
      <p:sp>
        <p:nvSpPr>
          <p:cNvPr id="13" name="TextBox 12"/>
          <p:cNvSpPr txBox="1"/>
          <p:nvPr/>
        </p:nvSpPr>
        <p:spPr>
          <a:xfrm>
            <a:off x="841248" y="4233671"/>
            <a:ext cx="5577840" cy="292608"/>
          </a:xfrm>
          <a:prstGeom prst="rect">
            <a:avLst/>
          </a:prstGeom>
          <a:noFill/>
        </p:spPr>
        <p:txBody>
          <a:bodyPr wrap="square" lIns="0" rIns="0" tIns="0" bIns="0" anchor="t">
            <a:spAutoFit/>
          </a:bodyPr>
          <a:lstStyle/>
          <a:p>
            <a:pPr algn="l"/>
            <a:r>
              <a:rPr sz="1250" b="1" i="0">
                <a:solidFill>
                  <a:srgbClr val="1E1B4B"/>
                </a:solidFill>
                <a:latin typeface="Calibri"/>
              </a:rPr>
              <a:t>Persona Particulier</a:t>
            </a:r>
            <a:r>
              <a:rPr sz="1150" b="1" i="0">
                <a:solidFill>
                  <a:srgbClr val="337DA8"/>
                </a:solidFill>
                <a:latin typeface="Calibri"/>
              </a:rPr>
              <a:t>   —   Maîtriser son chantier</a:t>
            </a:r>
          </a:p>
        </p:txBody>
      </p:sp>
      <p:sp>
        <p:nvSpPr>
          <p:cNvPr id="14" name="Rounded Rectangle 13"/>
          <p:cNvSpPr/>
          <p:nvPr/>
        </p:nvSpPr>
        <p:spPr>
          <a:xfrm>
            <a:off x="438912" y="4571999"/>
            <a:ext cx="5980176" cy="237744"/>
          </a:xfrm>
          <a:prstGeom prst="roundRect">
            <a:avLst>
              <a:gd name="adj" fmla="val 30000"/>
            </a:avLst>
          </a:prstGeom>
          <a:solidFill>
            <a:srgbClr val="F1F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l"/>
            <a:r>
              <a:rPr sz="850" b="1" i="0">
                <a:solidFill>
                  <a:srgbClr val="1E1B4B"/>
                </a:solidFill>
                <a:latin typeface="Calibri"/>
              </a:rPr>
              <a:t>Objectif : </a:t>
            </a:r>
            <a:r>
              <a:rPr sz="850" b="0" i="1">
                <a:solidFill>
                  <a:srgbClr val="2E3549"/>
                </a:solidFill>
                <a:latin typeface="Calibri"/>
              </a:rPr>
              <a:t>Payer uniquement pour du travail réellement effectué et vérifié.</a:t>
            </a:r>
          </a:p>
        </p:txBody>
      </p:sp>
      <p:sp>
        <p:nvSpPr>
          <p:cNvPr id="15" name="TextBox 14"/>
          <p:cNvSpPr txBox="1"/>
          <p:nvPr/>
        </p:nvSpPr>
        <p:spPr>
          <a:xfrm>
            <a:off x="438912" y="4864607"/>
            <a:ext cx="5980176" cy="3108960"/>
          </a:xfrm>
          <a:prstGeom prst="rect">
            <a:avLst/>
          </a:prstGeom>
          <a:noFill/>
        </p:spPr>
        <p:txBody>
          <a:bodyPr wrap="square" lIns="0" rIns="0" tIns="0" bIns="0" anchor="t">
            <a:spAutoFit/>
          </a:bodyPr>
          <a:lstStyle/>
          <a:p>
            <a:pPr algn="l">
              <a:lnSpc>
                <a:spcPct val="108000"/>
              </a:lnSpc>
              <a:spcAft>
                <a:spcPts val="400"/>
              </a:spcAft>
            </a:pPr>
            <a:r>
              <a:rPr sz="850" b="1" i="0">
                <a:solidFill>
                  <a:srgbClr val="4D43F0"/>
                </a:solidFill>
                <a:latin typeface="Calibri"/>
              </a:rPr>
              <a:t>▸ User Story : </a:t>
            </a:r>
            <a:r>
              <a:rPr sz="850" b="0" i="0">
                <a:solidFill>
                  <a:srgbClr val="2E3549"/>
                </a:solidFill>
                <a:latin typeface="Calibri"/>
              </a:rPr>
              <a:t>En tant que particulier, je veux garder le contrôle sur les paiements de mon chantier afin de ne libérer les fonds que lorsque les travaux sont réellement réalisés et conformes.</a:t>
            </a:r>
          </a:p>
          <a:p>
            <a:pPr algn="l">
              <a:spcAft>
                <a:spcPts val="0"/>
              </a:spcAft>
            </a:pPr>
            <a:r>
              <a:rPr sz="900" b="1" i="0">
                <a:solidFill>
                  <a:srgbClr val="F07B1C"/>
                </a:solidFill>
                <a:latin typeface="Calibri"/>
              </a:rPr>
              <a:t>1</a:t>
            </a:r>
            <a:r>
              <a:rPr sz="850" b="1" i="0">
                <a:solidFill>
                  <a:srgbClr val="1F4E73"/>
                </a:solidFill>
                <a:latin typeface="Calibri"/>
              </a:rPr>
              <a:t>  Scénario Mise sous séquestre</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J’ai validé un devis avec un artisan.</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Je dépose les fonds via l’application.</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Les fonds sont sécurisés dans un smart contract, inaccessibles à l’artisan.</a:t>
            </a:r>
          </a:p>
          <a:p>
            <a:pPr algn="l">
              <a:spcAft>
                <a:spcPts val="0"/>
              </a:spcAft>
            </a:pPr>
            <a:r>
              <a:rPr sz="200" b="0" i="0">
                <a:solidFill>
                  <a:srgbClr val="101422"/>
                </a:solidFill>
                <a:latin typeface="Calibri"/>
              </a:rPr>
              <a:t> </a:t>
            </a:r>
          </a:p>
          <a:p>
            <a:pPr algn="l">
              <a:spcAft>
                <a:spcPts val="0"/>
              </a:spcAft>
            </a:pPr>
            <a:r>
              <a:rPr sz="900" b="1" i="0">
                <a:solidFill>
                  <a:srgbClr val="F07B1C"/>
                </a:solidFill>
                <a:latin typeface="Calibri"/>
              </a:rPr>
              <a:t>2</a:t>
            </a:r>
            <a:r>
              <a:rPr sz="850" b="1" i="0">
                <a:solidFill>
                  <a:srgbClr val="1F4E73"/>
                </a:solidFill>
                <a:latin typeface="Calibri"/>
              </a:rPr>
              <a:t>  Scénario Suivi du chantier</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Le chantier est en cours.</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Je consulte mon tableau de bord.</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Je visualise les jalons, les preuves déposées et l’état d’avancement.</a:t>
            </a:r>
          </a:p>
          <a:p>
            <a:pPr algn="l">
              <a:spcAft>
                <a:spcPts val="0"/>
              </a:spcAft>
            </a:pPr>
            <a:r>
              <a:rPr sz="200" b="0" i="0">
                <a:solidFill>
                  <a:srgbClr val="101422"/>
                </a:solidFill>
                <a:latin typeface="Calibri"/>
              </a:rPr>
              <a:t> </a:t>
            </a:r>
          </a:p>
          <a:p>
            <a:pPr algn="l">
              <a:spcAft>
                <a:spcPts val="0"/>
              </a:spcAft>
            </a:pPr>
            <a:r>
              <a:rPr sz="900" b="1" i="0">
                <a:solidFill>
                  <a:srgbClr val="F07B1C"/>
                </a:solidFill>
                <a:latin typeface="Calibri"/>
              </a:rPr>
              <a:t>3</a:t>
            </a:r>
            <a:r>
              <a:rPr sz="850" b="1" i="0">
                <a:solidFill>
                  <a:srgbClr val="1F4E73"/>
                </a:solidFill>
                <a:latin typeface="Calibri"/>
              </a:rPr>
              <a:t>  Scénario Validation d’un jalon</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L’artisan a soumis des preuves pour une étape.</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Je valide le jalon.</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Le paiement correspondant est automatiquement libéré.</a:t>
            </a:r>
          </a:p>
          <a:p>
            <a:pPr algn="l">
              <a:spcAft>
                <a:spcPts val="0"/>
              </a:spcAft>
            </a:pPr>
            <a:r>
              <a:rPr sz="200" b="0" i="0">
                <a:solidFill>
                  <a:srgbClr val="101422"/>
                </a:solidFill>
                <a:latin typeface="Calibri"/>
              </a:rPr>
              <a:t> </a:t>
            </a:r>
          </a:p>
          <a:p>
            <a:pPr algn="l">
              <a:spcAft>
                <a:spcPts val="0"/>
              </a:spcAft>
            </a:pPr>
            <a:r>
              <a:rPr sz="900" b="1" i="0">
                <a:solidFill>
                  <a:srgbClr val="F07B1C"/>
                </a:solidFill>
                <a:latin typeface="Calibri"/>
              </a:rPr>
              <a:t>4</a:t>
            </a:r>
            <a:r>
              <a:rPr sz="850" b="1" i="0">
                <a:solidFill>
                  <a:srgbClr val="1F4E73"/>
                </a:solidFill>
                <a:latin typeface="Calibri"/>
              </a:rPr>
              <a:t>  Scénario Contestation</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Je considère que les travaux ne sont pas conformes.</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Je déclenche une contestation.</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Les fonds restent bloqués et une médiation indépendante est lancée.</a:t>
            </a:r>
          </a:p>
          <a:p>
            <a:pPr algn="l">
              <a:spcAft>
                <a:spcPts val="0"/>
              </a:spcAft>
            </a:pPr>
            <a:r>
              <a:rPr sz="200" b="0" i="0">
                <a:solidFill>
                  <a:srgbClr val="101422"/>
                </a:solidFill>
                <a:latin typeface="Calibri"/>
              </a:rPr>
              <a:t> </a:t>
            </a:r>
          </a:p>
          <a:p>
            <a:pPr algn="l">
              <a:spcAft>
                <a:spcPts val="0"/>
              </a:spcAft>
            </a:pPr>
            <a:r>
              <a:rPr sz="900" b="1" i="0">
                <a:solidFill>
                  <a:srgbClr val="F07B1C"/>
                </a:solidFill>
                <a:latin typeface="Calibri"/>
              </a:rPr>
              <a:t>5</a:t>
            </a:r>
            <a:r>
              <a:rPr sz="850" b="1" i="0">
                <a:solidFill>
                  <a:srgbClr val="1F4E73"/>
                </a:solidFill>
                <a:latin typeface="Calibri"/>
              </a:rPr>
              <a:t>  Scénario Transparence</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Toutes les étapes sont enregistrées.</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Je consulte l’historique.</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J’ai accès à un dossier complet, horodaté et traçable.</a:t>
            </a:r>
          </a:p>
          <a:p>
            <a:pPr algn="l">
              <a:spcAft>
                <a:spcPts val="0"/>
              </a:spcAft>
            </a:pPr>
            <a:r>
              <a:rPr sz="200" b="0" i="0">
                <a:solidFill>
                  <a:srgbClr val="101422"/>
                </a:solidFill>
                <a:latin typeface="Calibri"/>
              </a:rPr>
              <a:t> </a:t>
            </a:r>
          </a:p>
          <a:p>
            <a:pPr algn="l">
              <a:lnSpc>
                <a:spcPct val="108000"/>
              </a:lnSpc>
              <a:spcAft>
                <a:spcPts val="0"/>
              </a:spcAft>
            </a:pPr>
            <a:r>
              <a:rPr sz="850" b="1" i="0">
                <a:solidFill>
                  <a:srgbClr val="F07B1C"/>
                </a:solidFill>
                <a:latin typeface="Calibri"/>
              </a:rPr>
              <a:t>★  Insight produit : </a:t>
            </a:r>
            <a:r>
              <a:rPr sz="850" b="1" i="1">
                <a:solidFill>
                  <a:srgbClr val="1E1B4B"/>
                </a:solidFill>
                <a:latin typeface="Calibri"/>
              </a:rPr>
              <a:t>Le particulier ne paie plus « à l’aveugle » → il paie « à la preuve ».</a:t>
            </a:r>
          </a:p>
        </p:txBody>
      </p:sp>
      <p:sp>
        <p:nvSpPr>
          <p:cNvPr id="16" name="Rounded Rectangle 15"/>
          <p:cNvSpPr/>
          <p:nvPr/>
        </p:nvSpPr>
        <p:spPr>
          <a:xfrm>
            <a:off x="274320" y="8138160"/>
            <a:ext cx="6309360" cy="3913632"/>
          </a:xfrm>
          <a:prstGeom prst="roundRect">
            <a:avLst>
              <a:gd name="adj" fmla="val 2500"/>
            </a:avLst>
          </a:prstGeom>
          <a:solidFill>
            <a:srgbClr val="FFFFFF"/>
          </a:solidFill>
          <a:ln w="15240">
            <a:solidFill>
              <a:srgbClr val="9DC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8912" y="8229600"/>
            <a:ext cx="329184" cy="329184"/>
          </a:xfrm>
          <a:prstGeom prst="ellipse">
            <a:avLst/>
          </a:prstGeom>
          <a:solidFill>
            <a:srgbClr val="4D43F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r>
              <a:rPr sz="1500" b="1" i="0">
                <a:solidFill>
                  <a:srgbClr val="FFFFFF"/>
                </a:solidFill>
                <a:latin typeface="Calibri"/>
              </a:rPr>
              <a:t>G</a:t>
            </a:r>
          </a:p>
        </p:txBody>
      </p:sp>
      <p:sp>
        <p:nvSpPr>
          <p:cNvPr id="18" name="TextBox 17"/>
          <p:cNvSpPr txBox="1"/>
          <p:nvPr/>
        </p:nvSpPr>
        <p:spPr>
          <a:xfrm>
            <a:off x="841248" y="8238744"/>
            <a:ext cx="5577840" cy="292608"/>
          </a:xfrm>
          <a:prstGeom prst="rect">
            <a:avLst/>
          </a:prstGeom>
          <a:noFill/>
        </p:spPr>
        <p:txBody>
          <a:bodyPr wrap="square" lIns="0" rIns="0" tIns="0" bIns="0" anchor="t">
            <a:spAutoFit/>
          </a:bodyPr>
          <a:lstStyle/>
          <a:p>
            <a:pPr algn="l"/>
            <a:r>
              <a:rPr sz="1250" b="1" i="0">
                <a:solidFill>
                  <a:srgbClr val="1E1B4B"/>
                </a:solidFill>
                <a:latin typeface="Calibri"/>
              </a:rPr>
              <a:t>Persona Gouvernance dApp</a:t>
            </a:r>
            <a:r>
              <a:rPr sz="1150" b="1" i="0">
                <a:solidFill>
                  <a:srgbClr val="337DA8"/>
                </a:solidFill>
                <a:latin typeface="Calibri"/>
              </a:rPr>
              <a:t>   —   Orchestrer sans contrôler</a:t>
            </a:r>
          </a:p>
        </p:txBody>
      </p:sp>
      <p:sp>
        <p:nvSpPr>
          <p:cNvPr id="19" name="Rounded Rectangle 18"/>
          <p:cNvSpPr/>
          <p:nvPr/>
        </p:nvSpPr>
        <p:spPr>
          <a:xfrm>
            <a:off x="438912" y="8577072"/>
            <a:ext cx="5980176" cy="237744"/>
          </a:xfrm>
          <a:prstGeom prst="roundRect">
            <a:avLst>
              <a:gd name="adj" fmla="val 30000"/>
            </a:avLst>
          </a:prstGeom>
          <a:solidFill>
            <a:srgbClr val="F1F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l"/>
            <a:r>
              <a:rPr sz="850" b="1" i="0">
                <a:solidFill>
                  <a:srgbClr val="1E1B4B"/>
                </a:solidFill>
                <a:latin typeface="Calibri"/>
              </a:rPr>
              <a:t>Objectif : </a:t>
            </a:r>
            <a:r>
              <a:rPr sz="850" b="0" i="1">
                <a:solidFill>
                  <a:srgbClr val="2E3549"/>
                </a:solidFill>
                <a:latin typeface="Calibri"/>
              </a:rPr>
              <a:t>Assurer le bon fonctionnement du système sans jamais intervenir sur les fonds ni les décisions utilisateurs.</a:t>
            </a:r>
          </a:p>
        </p:txBody>
      </p:sp>
      <p:sp>
        <p:nvSpPr>
          <p:cNvPr id="20" name="TextBox 19"/>
          <p:cNvSpPr txBox="1"/>
          <p:nvPr/>
        </p:nvSpPr>
        <p:spPr>
          <a:xfrm>
            <a:off x="438912" y="8869680"/>
            <a:ext cx="5980176" cy="3108960"/>
          </a:xfrm>
          <a:prstGeom prst="rect">
            <a:avLst/>
          </a:prstGeom>
          <a:noFill/>
        </p:spPr>
        <p:txBody>
          <a:bodyPr wrap="square" lIns="0" rIns="0" tIns="0" bIns="0" anchor="t">
            <a:spAutoFit/>
          </a:bodyPr>
          <a:lstStyle/>
          <a:p>
            <a:pPr algn="l">
              <a:lnSpc>
                <a:spcPct val="108000"/>
              </a:lnSpc>
              <a:spcAft>
                <a:spcPts val="400"/>
              </a:spcAft>
            </a:pPr>
            <a:r>
              <a:rPr sz="850" b="1" i="0">
                <a:solidFill>
                  <a:srgbClr val="4D43F0"/>
                </a:solidFill>
                <a:latin typeface="Calibri"/>
              </a:rPr>
              <a:t>▸ User Story : </a:t>
            </a:r>
            <a:r>
              <a:rPr sz="850" b="0" i="0">
                <a:solidFill>
                  <a:srgbClr val="2E3549"/>
                </a:solidFill>
                <a:latin typeface="Calibri"/>
              </a:rPr>
              <a:t>En tant qu’opérateur de la dApp, je veux superviser le bon fonctionnement de l’infrastructure et des indicateurs globaux afin d’assurer la performance du système sans intervenir dans les flux ni les validations.</a:t>
            </a:r>
          </a:p>
          <a:p>
            <a:pPr algn="l">
              <a:spcAft>
                <a:spcPts val="0"/>
              </a:spcAft>
            </a:pPr>
            <a:r>
              <a:rPr sz="900" b="1" i="0">
                <a:solidFill>
                  <a:srgbClr val="F07B1C"/>
                </a:solidFill>
                <a:latin typeface="Calibri"/>
              </a:rPr>
              <a:t>1</a:t>
            </a:r>
            <a:r>
              <a:rPr sz="850" b="1" i="0">
                <a:solidFill>
                  <a:srgbClr val="1F4E73"/>
                </a:solidFill>
                <a:latin typeface="Calibri"/>
              </a:rPr>
              <a:t>  Scénario Monitoring global</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Des chantiers sont en cours sur la plateforme.</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Je consulte le dashboard.</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Je visualise des indicateurs agrégés (chantiers, statuts, litiges, volumes).</a:t>
            </a:r>
          </a:p>
          <a:p>
            <a:pPr algn="l">
              <a:spcAft>
                <a:spcPts val="0"/>
              </a:spcAft>
            </a:pPr>
            <a:r>
              <a:rPr sz="200" b="0" i="0">
                <a:solidFill>
                  <a:srgbClr val="101422"/>
                </a:solidFill>
                <a:latin typeface="Calibri"/>
              </a:rPr>
              <a:t> </a:t>
            </a:r>
          </a:p>
          <a:p>
            <a:pPr algn="l">
              <a:spcAft>
                <a:spcPts val="0"/>
              </a:spcAft>
            </a:pPr>
            <a:r>
              <a:rPr sz="900" b="1" i="0">
                <a:solidFill>
                  <a:srgbClr val="F07B1C"/>
                </a:solidFill>
                <a:latin typeface="Calibri"/>
              </a:rPr>
              <a:t>2</a:t>
            </a:r>
            <a:r>
              <a:rPr sz="850" b="1" i="0">
                <a:solidFill>
                  <a:srgbClr val="1F4E73"/>
                </a:solidFill>
                <a:latin typeface="Calibri"/>
              </a:rPr>
              <a:t>  Scénario Suivi des performances (option DeFi)</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Des fonds sont alloués via des partenaires régulés.</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Je consulte les données de performance.</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Je visualise les rendements générés sans intervenir dans les allocations.</a:t>
            </a:r>
          </a:p>
          <a:p>
            <a:pPr algn="l">
              <a:spcAft>
                <a:spcPts val="0"/>
              </a:spcAft>
            </a:pPr>
            <a:r>
              <a:rPr sz="200" b="0" i="0">
                <a:solidFill>
                  <a:srgbClr val="101422"/>
                </a:solidFill>
                <a:latin typeface="Calibri"/>
              </a:rPr>
              <a:t> </a:t>
            </a:r>
          </a:p>
          <a:p>
            <a:pPr algn="l">
              <a:spcAft>
                <a:spcPts val="0"/>
              </a:spcAft>
            </a:pPr>
            <a:r>
              <a:rPr sz="900" b="1" i="0">
                <a:solidFill>
                  <a:srgbClr val="F07B1C"/>
                </a:solidFill>
                <a:latin typeface="Calibri"/>
              </a:rPr>
              <a:t>3</a:t>
            </a:r>
            <a:r>
              <a:rPr sz="850" b="1" i="0">
                <a:solidFill>
                  <a:srgbClr val="1F4E73"/>
                </a:solidFill>
                <a:latin typeface="Calibri"/>
              </a:rPr>
              <a:t>  Scénario Maintenance technique</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Une mise à jour des smart contracts est nécessaire.</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Une modification est proposée.</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Elle est soumise à un mécanisme sécurisé (multi-sig + timelock).</a:t>
            </a:r>
          </a:p>
          <a:p>
            <a:pPr algn="l">
              <a:spcAft>
                <a:spcPts val="0"/>
              </a:spcAft>
            </a:pPr>
            <a:r>
              <a:rPr sz="200" b="0" i="0">
                <a:solidFill>
                  <a:srgbClr val="101422"/>
                </a:solidFill>
                <a:latin typeface="Calibri"/>
              </a:rPr>
              <a:t> </a:t>
            </a:r>
          </a:p>
          <a:p>
            <a:pPr algn="l">
              <a:spcAft>
                <a:spcPts val="0"/>
              </a:spcAft>
            </a:pPr>
            <a:r>
              <a:rPr sz="900" b="1" i="0">
                <a:solidFill>
                  <a:srgbClr val="F07B1C"/>
                </a:solidFill>
                <a:latin typeface="Calibri"/>
              </a:rPr>
              <a:t>4</a:t>
            </a:r>
            <a:r>
              <a:rPr sz="850" b="1" i="0">
                <a:solidFill>
                  <a:srgbClr val="1F4E73"/>
                </a:solidFill>
                <a:latin typeface="Calibri"/>
              </a:rPr>
              <a:t>  Scénario Gestion des litiges</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Un litige est déclenché entre utilisateurs.</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Le système identifie le conflit.</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Le dossier est transmis au médiateur sans intervention décisionnelle.</a:t>
            </a:r>
          </a:p>
          <a:p>
            <a:pPr algn="l">
              <a:spcAft>
                <a:spcPts val="0"/>
              </a:spcAft>
            </a:pPr>
            <a:r>
              <a:rPr sz="200" b="0" i="0">
                <a:solidFill>
                  <a:srgbClr val="101422"/>
                </a:solidFill>
                <a:latin typeface="Calibri"/>
              </a:rPr>
              <a:t> </a:t>
            </a:r>
          </a:p>
          <a:p>
            <a:pPr algn="l">
              <a:spcAft>
                <a:spcPts val="0"/>
              </a:spcAft>
            </a:pPr>
            <a:r>
              <a:rPr sz="900" b="1" i="0">
                <a:solidFill>
                  <a:srgbClr val="F07B1C"/>
                </a:solidFill>
                <a:latin typeface="Calibri"/>
              </a:rPr>
              <a:t>5</a:t>
            </a:r>
            <a:r>
              <a:rPr sz="850" b="1" i="0">
                <a:solidFill>
                  <a:srgbClr val="1F4E73"/>
                </a:solidFill>
                <a:latin typeface="Calibri"/>
              </a:rPr>
              <a:t>  Scénario Limite d’intervention</a:t>
            </a:r>
          </a:p>
          <a:p>
            <a:pPr algn="l">
              <a:lnSpc>
                <a:spcPct val="105000"/>
              </a:lnSpc>
              <a:spcAft>
                <a:spcPts val="0"/>
              </a:spcAft>
            </a:pPr>
            <a:r>
              <a:rPr sz="750" b="1" i="0">
                <a:solidFill>
                  <a:srgbClr val="1F7A3E"/>
                </a:solidFill>
                <a:latin typeface="Calibri"/>
              </a:rPr>
              <a:t>GIVEN : </a:t>
            </a:r>
            <a:r>
              <a:rPr sz="750" b="0" i="0">
                <a:solidFill>
                  <a:srgbClr val="101422"/>
                </a:solidFill>
                <a:latin typeface="Calibri"/>
              </a:rPr>
              <a:t>Des fonds sont bloqués dans un smart contract.</a:t>
            </a:r>
          </a:p>
          <a:p>
            <a:pPr algn="l">
              <a:lnSpc>
                <a:spcPct val="105000"/>
              </a:lnSpc>
              <a:spcAft>
                <a:spcPts val="0"/>
              </a:spcAft>
            </a:pPr>
            <a:r>
              <a:rPr sz="750" b="1" i="0">
                <a:solidFill>
                  <a:srgbClr val="1E4EA8"/>
                </a:solidFill>
                <a:latin typeface="Calibri"/>
              </a:rPr>
              <a:t>WHEN : </a:t>
            </a:r>
            <a:r>
              <a:rPr sz="750" b="0" i="0">
                <a:solidFill>
                  <a:srgbClr val="101422"/>
                </a:solidFill>
                <a:latin typeface="Calibri"/>
              </a:rPr>
              <a:t>Je consulte leur statut.</a:t>
            </a:r>
          </a:p>
          <a:p>
            <a:pPr algn="l">
              <a:lnSpc>
                <a:spcPct val="105000"/>
              </a:lnSpc>
              <a:spcAft>
                <a:spcPts val="0"/>
              </a:spcAft>
            </a:pPr>
            <a:r>
              <a:rPr sz="750" b="1" i="0">
                <a:solidFill>
                  <a:srgbClr val="B02A2A"/>
                </a:solidFill>
                <a:latin typeface="Calibri"/>
              </a:rPr>
              <a:t>THEN : </a:t>
            </a:r>
            <a:r>
              <a:rPr sz="750" b="0" i="0">
                <a:solidFill>
                  <a:srgbClr val="101422"/>
                </a:solidFill>
                <a:latin typeface="Calibri"/>
              </a:rPr>
              <a:t>Je ne peux ni les déplacer ni les débloquer.</a:t>
            </a:r>
          </a:p>
          <a:p>
            <a:pPr algn="l">
              <a:spcAft>
                <a:spcPts val="0"/>
              </a:spcAft>
            </a:pPr>
            <a:r>
              <a:rPr sz="200" b="0" i="0">
                <a:solidFill>
                  <a:srgbClr val="101422"/>
                </a:solidFill>
                <a:latin typeface="Calibri"/>
              </a:rPr>
              <a:t> </a:t>
            </a:r>
          </a:p>
          <a:p>
            <a:pPr algn="l">
              <a:lnSpc>
                <a:spcPct val="108000"/>
              </a:lnSpc>
              <a:spcAft>
                <a:spcPts val="0"/>
              </a:spcAft>
            </a:pPr>
            <a:r>
              <a:rPr sz="850" b="1" i="0">
                <a:solidFill>
                  <a:srgbClr val="F07B1C"/>
                </a:solidFill>
                <a:latin typeface="Calibri"/>
              </a:rPr>
              <a:t>★  Insight produit : </a:t>
            </a:r>
            <a:r>
              <a:rPr sz="850" b="1" i="1">
                <a:solidFill>
                  <a:srgbClr val="1E1B4B"/>
                </a:solidFill>
                <a:latin typeface="Calibri"/>
              </a:rPr>
              <a:t>La dApp ne contrôle rien → elle garantit que tout fonctionne.</a:t>
            </a:r>
          </a:p>
        </p:txBody>
      </p:sp>
      <p:sp>
        <p:nvSpPr>
          <p:cNvPr id="21" name="TextBox 20"/>
          <p:cNvSpPr txBox="1"/>
          <p:nvPr/>
        </p:nvSpPr>
        <p:spPr>
          <a:xfrm>
            <a:off x="274320" y="12060936"/>
            <a:ext cx="6309360" cy="128016"/>
          </a:xfrm>
          <a:prstGeom prst="rect">
            <a:avLst/>
          </a:prstGeom>
          <a:noFill/>
        </p:spPr>
        <p:txBody>
          <a:bodyPr wrap="square" lIns="0" rIns="0" tIns="0" bIns="0" anchor="t">
            <a:spAutoFit/>
          </a:bodyPr>
          <a:lstStyle/>
          <a:p>
            <a:pPr algn="ctr"/>
            <a:r>
              <a:rPr sz="800" b="1" i="0">
                <a:solidFill>
                  <a:srgbClr val="1F7A3E"/>
                </a:solidFill>
                <a:latin typeface="Calibri"/>
              </a:rPr>
              <a:t>GIVEN</a:t>
            </a:r>
            <a:r>
              <a:rPr sz="800" b="0" i="0">
                <a:solidFill>
                  <a:srgbClr val="2E3549"/>
                </a:solidFill>
                <a:latin typeface="Calibri"/>
              </a:rPr>
              <a:t> = contexte  ·  </a:t>
            </a:r>
            <a:r>
              <a:rPr sz="800" b="1" i="0">
                <a:solidFill>
                  <a:srgbClr val="1E4EA8"/>
                </a:solidFill>
                <a:latin typeface="Calibri"/>
              </a:rPr>
              <a:t>WHEN</a:t>
            </a:r>
            <a:r>
              <a:rPr sz="800" b="0" i="0">
                <a:solidFill>
                  <a:srgbClr val="2E3549"/>
                </a:solidFill>
                <a:latin typeface="Calibri"/>
              </a:rPr>
              <a:t> = action  ·  </a:t>
            </a:r>
            <a:r>
              <a:rPr sz="800" b="1" i="0">
                <a:solidFill>
                  <a:srgbClr val="B02A2A"/>
                </a:solidFill>
                <a:latin typeface="Calibri"/>
              </a:rPr>
              <a:t>THEN</a:t>
            </a:r>
            <a:r>
              <a:rPr sz="800" b="0" i="0">
                <a:solidFill>
                  <a:srgbClr val="2E3549"/>
                </a:solidFill>
                <a:latin typeface="Calibri"/>
              </a:rPr>
              <a:t> = résultat   ·   </a:t>
            </a:r>
            <a:r>
              <a:rPr sz="800" b="1" i="0">
                <a:solidFill>
                  <a:srgbClr val="1E1B4B"/>
                </a:solidFill>
                <a:latin typeface="Calibri"/>
              </a:rPr>
              <a:t>INVEST</a:t>
            </a:r>
            <a:r>
              <a:rPr sz="800" b="0" i="1">
                <a:solidFill>
                  <a:srgbClr val="2E3549"/>
                </a:solidFill>
                <a:latin typeface="Calibri"/>
              </a:rPr>
              <a:t> : Indépendant, Négociable, Valuable, Estimable, Small, Testable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